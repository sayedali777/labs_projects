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2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412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Shape 1"/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27317A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DSB2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BH" sz="4400" dirty="0">
                <a:solidFill>
                  <a:schemeClr val="bg2"/>
                </a:solidFill>
                <a:latin typeface="Cambria" panose="02040503050406030204" pitchFamily="18" charset="0"/>
              </a:rPr>
              <a:t>Capstone Lighting Talk #1</a:t>
            </a:r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Candidate Topics 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Sayed Ali Mahmood Ali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742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6/5/2026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Loan Status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6309360" cy="3977640"/>
          </a:xfrm>
          <a:prstGeom prst="roundRect">
            <a:avLst>
              <a:gd name="adj" fmla="val 2299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68680" y="224028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2926080"/>
            <a:ext cx="56692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3E7F1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1" name="Text 9"/>
          <p:cNvSpPr/>
          <p:nvPr/>
        </p:nvSpPr>
        <p:spPr>
          <a:xfrm>
            <a:off x="868680" y="2926080"/>
            <a:ext cx="5669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1965960"/>
            <a:ext cx="4419295" cy="3977640"/>
          </a:xfrm>
          <a:prstGeom prst="roundRect">
            <a:avLst>
              <a:gd name="adj" fmla="val 229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7498080" y="224028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7498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498080" y="280720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/ Aim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3246120"/>
            <a:ext cx="3870655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 w="12700">
            <a:solidFill>
              <a:srgbClr val="3B4696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7" name="Text 15"/>
          <p:cNvSpPr/>
          <p:nvPr/>
        </p:nvSpPr>
        <p:spPr>
          <a:xfrm>
            <a:off x="7498080" y="3246120"/>
            <a:ext cx="3870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— Overview</a:t>
            </a:r>
            <a:endParaRPr 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B60638-3594-F6AA-F717-601182B03265}"/>
              </a:ext>
            </a:extLst>
          </p:cNvPr>
          <p:cNvSpPr txBox="1"/>
          <p:nvPr/>
        </p:nvSpPr>
        <p:spPr>
          <a:xfrm>
            <a:off x="999460" y="3040912"/>
            <a:ext cx="54013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Lenders must assess repayment likelihood before issuing a loan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Manual credit assessment is slow, inconsistent, and doesn't scale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BH" dirty="0"/>
              <a:t>This project predicts loan outcome — </a:t>
            </a:r>
            <a:r>
              <a:rPr lang="en-BH" b="1" dirty="0"/>
              <a:t>Fully Paid</a:t>
            </a:r>
            <a:r>
              <a:rPr lang="en-BH" dirty="0"/>
              <a:t> vs </a:t>
            </a:r>
            <a:r>
              <a:rPr lang="en-BH" b="1" dirty="0"/>
              <a:t>Charged Off</a:t>
            </a:r>
            <a:r>
              <a:rPr lang="en-BH" dirty="0"/>
              <a:t> — using borrower and loan-level financial data</a:t>
            </a:r>
          </a:p>
          <a:p>
            <a:endParaRPr lang="en-BH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775C60-6C23-7F5A-ED07-7B2C6286B326}"/>
              </a:ext>
            </a:extLst>
          </p:cNvPr>
          <p:cNvSpPr txBox="1"/>
          <p:nvPr/>
        </p:nvSpPr>
        <p:spPr>
          <a:xfrm>
            <a:off x="7591647" y="3349256"/>
            <a:ext cx="36682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H" sz="1400" b="1" dirty="0">
                <a:solidFill>
                  <a:schemeClr val="bg2"/>
                </a:solidFill>
              </a:rPr>
              <a:t>1-</a:t>
            </a:r>
            <a:r>
              <a:rPr lang="en-BH" sz="1400" dirty="0">
                <a:solidFill>
                  <a:schemeClr val="bg2"/>
                </a:solidFill>
              </a:rPr>
              <a:t> Build a binary classifier that predicts loan outcome from features available at origination</a:t>
            </a:r>
          </a:p>
          <a:p>
            <a:endParaRPr lang="en-BH" sz="1400" dirty="0">
              <a:solidFill>
                <a:schemeClr val="bg2"/>
              </a:solidFill>
            </a:endParaRPr>
          </a:p>
          <a:p>
            <a:r>
              <a:rPr lang="en-BH" sz="1400" b="1" dirty="0">
                <a:solidFill>
                  <a:schemeClr val="bg2"/>
                </a:solidFill>
              </a:rPr>
              <a:t>2-</a:t>
            </a:r>
            <a:r>
              <a:rPr lang="en-BH" sz="1400" dirty="0">
                <a:solidFill>
                  <a:schemeClr val="bg2"/>
                </a:solidFill>
              </a:rPr>
              <a:t> Identify which financial and credit-history factors contribute most to default risk</a:t>
            </a:r>
          </a:p>
          <a:p>
            <a:endParaRPr lang="en-BH" sz="1400" dirty="0">
              <a:solidFill>
                <a:schemeClr val="bg2"/>
              </a:solidFill>
            </a:endParaRPr>
          </a:p>
          <a:p>
            <a:r>
              <a:rPr lang="en-BH" sz="1400" b="1" dirty="0">
                <a:solidFill>
                  <a:schemeClr val="bg2"/>
                </a:solidFill>
              </a:rPr>
              <a:t>3-</a:t>
            </a:r>
            <a:r>
              <a:rPr lang="en-BH" sz="1400" dirty="0">
                <a:solidFill>
                  <a:schemeClr val="bg2"/>
                </a:solidFill>
              </a:rPr>
              <a:t> Evaluate performance appropriately given class imbalance (77% paid / 23% charged off), prioritizing recall on defaults over raw accuracy</a:t>
            </a:r>
          </a:p>
          <a:p>
            <a:endParaRPr lang="en-BH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Findings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Loan Status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22960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13969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Type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/>
              <a:t>Classification</a:t>
            </a:r>
          </a:p>
        </p:txBody>
      </p:sp>
      <p:sp>
        <p:nvSpPr>
          <p:cNvPr id="12" name="Shape 10"/>
          <p:cNvSpPr/>
          <p:nvPr/>
        </p:nvSpPr>
        <p:spPr>
          <a:xfrm>
            <a:off x="6255868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6530188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6530188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33108" y="213969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3108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/ columns affected (or “none”)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30188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# ]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9" name="Shape 17"/>
          <p:cNvSpPr/>
          <p:nvPr/>
        </p:nvSpPr>
        <p:spPr>
          <a:xfrm>
            <a:off x="822960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05993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Types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vs. Continuous columns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# / # ]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55868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25" name="Shape 23"/>
          <p:cNvSpPr/>
          <p:nvPr/>
        </p:nvSpPr>
        <p:spPr>
          <a:xfrm>
            <a:off x="6530188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6" name="Text 24"/>
          <p:cNvSpPr/>
          <p:nvPr/>
        </p:nvSpPr>
        <p:spPr>
          <a:xfrm>
            <a:off x="65301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33108" y="405993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33108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Present? Which column(s)?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30188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? ]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— EDA Findings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Dataset / Topic Name ]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[ 1-line source / dataset tag 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6309360" cy="3977640"/>
          </a:xfrm>
          <a:prstGeom prst="roundRect">
            <a:avLst>
              <a:gd name="adj" fmla="val 2299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68680" y="224028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2926080"/>
            <a:ext cx="56692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3E7F1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1" name="Text 9"/>
          <p:cNvSpPr/>
          <p:nvPr/>
        </p:nvSpPr>
        <p:spPr>
          <a:xfrm>
            <a:off x="868680" y="2926080"/>
            <a:ext cx="5669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Describe the business / real-world problem this topic addresses 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1965960"/>
            <a:ext cx="4419295" cy="3977640"/>
          </a:xfrm>
          <a:prstGeom prst="roundRect">
            <a:avLst>
              <a:gd name="adj" fmla="val 229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7498080" y="224028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7498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498080" y="280720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/ Aim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3246120"/>
            <a:ext cx="3870655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 w="12700">
            <a:solidFill>
              <a:srgbClr val="3B4696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7" name="Text 15"/>
          <p:cNvSpPr/>
          <p:nvPr/>
        </p:nvSpPr>
        <p:spPr>
          <a:xfrm>
            <a:off x="7498080" y="3246120"/>
            <a:ext cx="3870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What are you trying to predict / achieve? 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— Overview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Findings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Dataset / Topic Name 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22960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13969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Type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? ]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5868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6530188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6530188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33108" y="213969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3108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/ columns affected (or “none”)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30188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# ]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9" name="Shape 17"/>
          <p:cNvSpPr/>
          <p:nvPr/>
        </p:nvSpPr>
        <p:spPr>
          <a:xfrm>
            <a:off x="822960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05993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Types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vs. Continuous columns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# / # ]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55868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25" name="Shape 23"/>
          <p:cNvSpPr/>
          <p:nvPr/>
        </p:nvSpPr>
        <p:spPr>
          <a:xfrm>
            <a:off x="6530188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6" name="Text 24"/>
          <p:cNvSpPr/>
          <p:nvPr/>
        </p:nvSpPr>
        <p:spPr>
          <a:xfrm>
            <a:off x="65301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33108" y="405993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33108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Present? Which column(s)?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30188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? ]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— EDA Findings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Dataset / Topic Name ]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[ 1-line source / dataset tag 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6309360" cy="3977640"/>
          </a:xfrm>
          <a:prstGeom prst="roundRect">
            <a:avLst>
              <a:gd name="adj" fmla="val 2299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68680" y="2240280"/>
            <a:ext cx="50292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2926080"/>
            <a:ext cx="56692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3E7F1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1" name="Text 9"/>
          <p:cNvSpPr/>
          <p:nvPr/>
        </p:nvSpPr>
        <p:spPr>
          <a:xfrm>
            <a:off x="868680" y="2926080"/>
            <a:ext cx="5669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Describe the business / real-world problem this topic addresses 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1965960"/>
            <a:ext cx="4419295" cy="3977640"/>
          </a:xfrm>
          <a:prstGeom prst="roundRect">
            <a:avLst>
              <a:gd name="adj" fmla="val 229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7498080" y="2240280"/>
            <a:ext cx="457200" cy="457200"/>
          </a:xfrm>
          <a:prstGeom prst="roundRect">
            <a:avLst>
              <a:gd name="adj" fmla="val 1000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7498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498080" y="280720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/ Aim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498080" y="3246120"/>
            <a:ext cx="3870655" cy="2377440"/>
          </a:xfrm>
          <a:prstGeom prst="roundRect">
            <a:avLst>
              <a:gd name="adj" fmla="val 3077"/>
            </a:avLst>
          </a:prstGeom>
          <a:solidFill>
            <a:srgbClr val="27317A"/>
          </a:solidFill>
          <a:ln w="12700">
            <a:solidFill>
              <a:srgbClr val="3B4696"/>
            </a:solidFill>
            <a:prstDash val="dash"/>
          </a:ln>
        </p:spPr>
        <p:txBody>
          <a:bodyPr/>
          <a:lstStyle/>
          <a:p>
            <a:endParaRPr lang="en-BH"/>
          </a:p>
        </p:txBody>
      </p:sp>
      <p:sp>
        <p:nvSpPr>
          <p:cNvPr id="17" name="Text 15"/>
          <p:cNvSpPr/>
          <p:nvPr/>
        </p:nvSpPr>
        <p:spPr>
          <a:xfrm>
            <a:off x="7498080" y="3246120"/>
            <a:ext cx="3870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What are you trying to predict / achieve? 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— Overview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Findings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Dataset / Topic Name 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7" name="Shape 5"/>
          <p:cNvSpPr/>
          <p:nvPr/>
        </p:nvSpPr>
        <p:spPr>
          <a:xfrm>
            <a:off x="822960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13969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Type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? ]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5868" y="192024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3" name="Shape 11"/>
          <p:cNvSpPr/>
          <p:nvPr/>
        </p:nvSpPr>
        <p:spPr>
          <a:xfrm>
            <a:off x="6530188" y="217627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14" name="Text 12"/>
          <p:cNvSpPr/>
          <p:nvPr/>
        </p:nvSpPr>
        <p:spPr>
          <a:xfrm>
            <a:off x="6530188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33108" y="213969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3108" y="242316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/ columns affected (or “none”)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30188" y="295351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# ]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19" name="Shape 17"/>
          <p:cNvSpPr/>
          <p:nvPr/>
        </p:nvSpPr>
        <p:spPr>
          <a:xfrm>
            <a:off x="822960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05993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Types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vs. Continuous columns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# / # ]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55868" y="3840480"/>
            <a:ext cx="5387188" cy="1600200"/>
          </a:xfrm>
          <a:prstGeom prst="roundRect">
            <a:avLst>
              <a:gd name="adj" fmla="val 5714"/>
            </a:avLst>
          </a:prstGeom>
          <a:solidFill>
            <a:srgbClr val="F6F8FD"/>
          </a:solidFill>
          <a:ln w="12700">
            <a:solidFill>
              <a:srgbClr val="E3E7F1"/>
            </a:solidFill>
            <a:prstDash val="solid"/>
          </a:ln>
        </p:spPr>
        <p:txBody>
          <a:bodyPr/>
          <a:lstStyle/>
          <a:p>
            <a:endParaRPr lang="en-BH"/>
          </a:p>
        </p:txBody>
      </p:sp>
      <p:sp>
        <p:nvSpPr>
          <p:cNvPr id="25" name="Shape 23"/>
          <p:cNvSpPr/>
          <p:nvPr/>
        </p:nvSpPr>
        <p:spPr>
          <a:xfrm>
            <a:off x="6530188" y="4096512"/>
            <a:ext cx="384048" cy="384048"/>
          </a:xfrm>
          <a:prstGeom prst="roundRect">
            <a:avLst>
              <a:gd name="adj" fmla="val 11904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BH"/>
          </a:p>
        </p:txBody>
      </p:sp>
      <p:sp>
        <p:nvSpPr>
          <p:cNvPr id="26" name="Text 24"/>
          <p:cNvSpPr/>
          <p:nvPr/>
        </p:nvSpPr>
        <p:spPr>
          <a:xfrm>
            <a:off x="6530188" y="4096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33108" y="4059936"/>
            <a:ext cx="43356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33108" y="4343400"/>
            <a:ext cx="43356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Present? Which column(s)?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30188" y="4873752"/>
            <a:ext cx="4838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? ]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Dataset Proposal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3 — EDA Findings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425</Words>
  <Application>Microsoft Macintosh PowerPoint</Application>
  <PresentationFormat>Widescreen</PresentationFormat>
  <Paragraphs>112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Sayed Ali Mahmood Ali Ebrahim Ali Abbas</cp:lastModifiedBy>
  <cp:revision>2</cp:revision>
  <dcterms:created xsi:type="dcterms:W3CDTF">2026-08-05T19:20:59Z</dcterms:created>
  <dcterms:modified xsi:type="dcterms:W3CDTF">2026-08-05T20:55:27Z</dcterms:modified>
</cp:coreProperties>
</file>