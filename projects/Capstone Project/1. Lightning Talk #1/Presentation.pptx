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41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65FF-67AD-C6ED-399B-18841530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0A3A7-8BDB-6C3E-4166-AF6D3AFD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BA7F0-0284-B62A-72DD-D4FF0F21A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0A279-8624-55D3-DA69-07DD558B4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9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27317A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27317A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DSB2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H" sz="4400" dirty="0">
                <a:solidFill>
                  <a:schemeClr val="bg2"/>
                </a:solidFill>
                <a:latin typeface="Cambria" panose="02040503050406030204" pitchFamily="18" charset="0"/>
              </a:rPr>
              <a:t>Capstone Lighting Talk #1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Topics 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Ali Mahmood Ali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6/8/2026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Status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5669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965960"/>
            <a:ext cx="4419295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7498080" y="22402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7498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80720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/ Aim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3246120"/>
            <a:ext cx="3870655" cy="2377440"/>
          </a:xfrm>
          <a:prstGeom prst="roundRect">
            <a:avLst>
              <a:gd name="adj" fmla="val 3077"/>
            </a:avLst>
          </a:prstGeom>
          <a:solidFill>
            <a:srgbClr val="27317A"/>
          </a:solidFill>
          <a:ln w="12700">
            <a:solidFill>
              <a:srgbClr val="3B4696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7" name="Text 15"/>
          <p:cNvSpPr/>
          <p:nvPr/>
        </p:nvSpPr>
        <p:spPr>
          <a:xfrm>
            <a:off x="7498080" y="324612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Overview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B60638-3594-F6AA-F717-601182B03265}"/>
              </a:ext>
            </a:extLst>
          </p:cNvPr>
          <p:cNvSpPr txBox="1"/>
          <p:nvPr/>
        </p:nvSpPr>
        <p:spPr>
          <a:xfrm>
            <a:off x="999460" y="3040912"/>
            <a:ext cx="54013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Lenders must assess repayment likelihood before issuing a loan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Manual credit assessment is slow, inconsistent, and doesn't scale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This project predicts loan outcome — </a:t>
            </a:r>
            <a:r>
              <a:rPr lang="en-BH" b="1" dirty="0"/>
              <a:t>Fully Paid</a:t>
            </a:r>
            <a:r>
              <a:rPr lang="en-BH" dirty="0"/>
              <a:t> vs </a:t>
            </a:r>
            <a:r>
              <a:rPr lang="en-BH" b="1" dirty="0"/>
              <a:t>Charged Off</a:t>
            </a:r>
            <a:r>
              <a:rPr lang="en-BH" dirty="0"/>
              <a:t> — using borrower and loan-level financial data</a:t>
            </a:r>
          </a:p>
          <a:p>
            <a:endParaRPr lang="en-B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775C60-6C23-7F5A-ED07-7B2C6286B326}"/>
              </a:ext>
            </a:extLst>
          </p:cNvPr>
          <p:cNvSpPr txBox="1"/>
          <p:nvPr/>
        </p:nvSpPr>
        <p:spPr>
          <a:xfrm>
            <a:off x="7591647" y="3349256"/>
            <a:ext cx="3668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H" sz="1400" b="1" dirty="0">
                <a:solidFill>
                  <a:schemeClr val="bg2"/>
                </a:solidFill>
              </a:rPr>
              <a:t>1-</a:t>
            </a:r>
            <a:r>
              <a:rPr lang="en-BH" sz="1400" dirty="0">
                <a:solidFill>
                  <a:schemeClr val="bg2"/>
                </a:solidFill>
              </a:rPr>
              <a:t> Build a binary classifier that predicts loan outcome from features available at origination</a:t>
            </a:r>
          </a:p>
          <a:p>
            <a:endParaRPr lang="en-BH" sz="1400" dirty="0">
              <a:solidFill>
                <a:schemeClr val="bg2"/>
              </a:solidFill>
            </a:endParaRPr>
          </a:p>
          <a:p>
            <a:r>
              <a:rPr lang="en-BH" sz="1400" b="1" dirty="0">
                <a:solidFill>
                  <a:schemeClr val="bg2"/>
                </a:solidFill>
              </a:rPr>
              <a:t>2-</a:t>
            </a:r>
            <a:r>
              <a:rPr lang="en-BH" sz="1400" dirty="0">
                <a:solidFill>
                  <a:schemeClr val="bg2"/>
                </a:solidFill>
              </a:rPr>
              <a:t> Identify which financial and credit-history factors contribute most to default risk</a:t>
            </a:r>
          </a:p>
          <a:p>
            <a:endParaRPr lang="en-BH" sz="1400" dirty="0">
              <a:solidFill>
                <a:schemeClr val="bg2"/>
              </a:solidFill>
            </a:endParaRPr>
          </a:p>
          <a:p>
            <a:r>
              <a:rPr lang="en-BH" sz="1400" b="1" dirty="0">
                <a:solidFill>
                  <a:schemeClr val="bg2"/>
                </a:solidFill>
              </a:rPr>
              <a:t>3-</a:t>
            </a:r>
            <a:r>
              <a:rPr lang="en-BH" sz="1400" dirty="0">
                <a:solidFill>
                  <a:schemeClr val="bg2"/>
                </a:solidFill>
              </a:rPr>
              <a:t> Evaluate performance appropriately given class imbalance (77% paid / 23% charged off), prioritizing recall on defaults over raw accuracy</a:t>
            </a:r>
          </a:p>
          <a:p>
            <a:endParaRPr lang="en-B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0">
            <a:extLst>
              <a:ext uri="{FF2B5EF4-FFF2-40B4-BE49-F238E27FC236}">
                <a16:creationId xmlns:a16="http://schemas.microsoft.com/office/drawing/2014/main" id="{9A2D5B17-1B05-8E43-66C6-583D21BE09DC}"/>
              </a:ext>
            </a:extLst>
          </p:cNvPr>
          <p:cNvSpPr/>
          <p:nvPr/>
        </p:nvSpPr>
        <p:spPr>
          <a:xfrm>
            <a:off x="556717" y="4116579"/>
            <a:ext cx="5387188" cy="1854073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FD7D90ED-66A6-D748-C03A-4FC50C71F94B}"/>
              </a:ext>
            </a:extLst>
          </p:cNvPr>
          <p:cNvSpPr/>
          <p:nvPr/>
        </p:nvSpPr>
        <p:spPr>
          <a:xfrm>
            <a:off x="6248096" y="4087369"/>
            <a:ext cx="5387188" cy="1854073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 dirty="0"/>
          </a:p>
        </p:txBody>
      </p:sp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Status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87188" cy="1854072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39696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820924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Classification: </a:t>
            </a:r>
            <a:r>
              <a:rPr lang="en-BH" b="1" dirty="0"/>
              <a:t>Fully Paid</a:t>
            </a:r>
            <a:r>
              <a:rPr lang="en-BH" dirty="0"/>
              <a:t> or </a:t>
            </a:r>
            <a:r>
              <a:rPr lang="en-BH" b="1" dirty="0"/>
              <a:t>Charged Off</a:t>
            </a:r>
            <a:r>
              <a:rPr lang="en-US" dirty="0"/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6255868" y="1920239"/>
            <a:ext cx="5387188" cy="1854073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6397600" y="1997964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6397600" y="20088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14236" y="2057400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33108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9952" y="4224205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 dirty="0"/>
          </a:p>
        </p:txBody>
      </p:sp>
      <p:sp>
        <p:nvSpPr>
          <p:cNvPr id="20" name="Text 18"/>
          <p:cNvSpPr/>
          <p:nvPr/>
        </p:nvSpPr>
        <p:spPr>
          <a:xfrm>
            <a:off x="816944" y="4229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18115" y="4263707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Types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7375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Categorical / 12 numerical 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397600" y="4218889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 dirty="0"/>
          </a:p>
        </p:txBody>
      </p:sp>
      <p:sp>
        <p:nvSpPr>
          <p:cNvPr id="26" name="Text 24"/>
          <p:cNvSpPr/>
          <p:nvPr/>
        </p:nvSpPr>
        <p:spPr>
          <a:xfrm>
            <a:off x="6400608" y="42188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31152" y="4249799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EDA Findings</a:t>
            </a:r>
            <a:endParaRPr lang="en-US" sz="9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59CB92D5-4861-B45A-6677-8422D5EA3516}"/>
              </a:ext>
            </a:extLst>
          </p:cNvPr>
          <p:cNvSpPr/>
          <p:nvPr/>
        </p:nvSpPr>
        <p:spPr>
          <a:xfrm>
            <a:off x="1325880" y="240030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or Classification?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334CE2-FEFE-A7B7-F52F-6B884B775C84}"/>
              </a:ext>
            </a:extLst>
          </p:cNvPr>
          <p:cNvSpPr txBox="1"/>
          <p:nvPr/>
        </p:nvSpPr>
        <p:spPr>
          <a:xfrm>
            <a:off x="6372991" y="2357342"/>
            <a:ext cx="499574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BH" sz="1600" dirty="0"/>
              <a:t>Months since last delinquent  - 53655</a:t>
            </a:r>
          </a:p>
          <a:p>
            <a:pPr latinLnBrk="1"/>
            <a:r>
              <a:rPr lang="en-BH" sz="1600" dirty="0"/>
              <a:t>Bankruptcies   - 718</a:t>
            </a:r>
          </a:p>
          <a:p>
            <a:pPr latinLnBrk="1"/>
            <a:r>
              <a:rPr lang="en-BH" sz="1600" dirty="0"/>
              <a:t>Tax Liens   - 524</a:t>
            </a:r>
          </a:p>
          <a:p>
            <a:pPr latinLnBrk="1"/>
            <a:r>
              <a:rPr lang="en-BH" sz="1600" dirty="0"/>
              <a:t>Maximum Open Credit  - 516</a:t>
            </a:r>
          </a:p>
          <a:p>
            <a:pPr latinLnBrk="1"/>
            <a:r>
              <a:rPr lang="en-BH" sz="1600" dirty="0"/>
              <a:t>Credit Score / Annual Income (19,154, co-missing)</a:t>
            </a:r>
          </a:p>
          <a:p>
            <a:br>
              <a:rPr lang="en-BH" sz="1600" dirty="0"/>
            </a:br>
            <a:endParaRPr lang="en-BH" sz="1600" dirty="0"/>
          </a:p>
          <a:p>
            <a:pPr latinLnBrk="1"/>
            <a:endParaRPr lang="en-BH" dirty="0"/>
          </a:p>
          <a:p>
            <a:br>
              <a:rPr lang="en-BH" dirty="0"/>
            </a:br>
            <a:endParaRPr lang="en-BH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6E45D5-0E7F-9346-E2F7-6F66C6579036}"/>
              </a:ext>
            </a:extLst>
          </p:cNvPr>
          <p:cNvSpPr txBox="1"/>
          <p:nvPr/>
        </p:nvSpPr>
        <p:spPr>
          <a:xfrm>
            <a:off x="6589624" y="4556315"/>
            <a:ext cx="50960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BH" sz="1400" b="1" dirty="0"/>
              <a:t>Sentinel value:</a:t>
            </a:r>
            <a:r>
              <a:rPr lang="en-BH" sz="1400" dirty="0"/>
              <a:t> Current Loan Amount max = 99,999,999 </a:t>
            </a:r>
          </a:p>
          <a:p>
            <a:pPr lvl="0"/>
            <a:r>
              <a:rPr lang="en-BH" sz="1400" b="1" dirty="0"/>
              <a:t>Invalid range:</a:t>
            </a:r>
            <a:r>
              <a:rPr lang="en-BH" sz="1400" dirty="0"/>
              <a:t> Credit Score max = 7,510 (real cap is 850)</a:t>
            </a:r>
          </a:p>
          <a:p>
            <a:pPr lvl="0"/>
            <a:r>
              <a:rPr lang="en-BH" sz="1400" b="1" dirty="0"/>
              <a:t>Large gap between mean and max:</a:t>
            </a:r>
            <a:r>
              <a:rPr lang="en-BH" sz="1400" dirty="0"/>
              <a:t> Annual Income — mean $1.38M vs. max $165M, Maximum Open Credit mean far below its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score classification 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5669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965960"/>
            <a:ext cx="4419295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7498080" y="22402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7498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80720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/ Aim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3246120"/>
            <a:ext cx="3870655" cy="2377440"/>
          </a:xfrm>
          <a:prstGeom prst="roundRect">
            <a:avLst>
              <a:gd name="adj" fmla="val 3077"/>
            </a:avLst>
          </a:prstGeom>
          <a:solidFill>
            <a:srgbClr val="27317A"/>
          </a:solidFill>
          <a:ln w="12700">
            <a:solidFill>
              <a:srgbClr val="3B4696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7" name="Text 15"/>
          <p:cNvSpPr/>
          <p:nvPr/>
        </p:nvSpPr>
        <p:spPr>
          <a:xfrm>
            <a:off x="7498080" y="324612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Overview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0BD357-4821-3CC8-FDF2-BF146F3C0F43}"/>
              </a:ext>
            </a:extLst>
          </p:cNvPr>
          <p:cNvSpPr txBox="1"/>
          <p:nvPr/>
        </p:nvSpPr>
        <p:spPr>
          <a:xfrm>
            <a:off x="1120140" y="3064256"/>
            <a:ext cx="5153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Financial institutions need a reliable, scalable way to categorize customers into credit risk tiers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Underlying data used for this is often messy and inconsistent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This project predicts a customer's credit score category — </a:t>
            </a:r>
            <a:r>
              <a:rPr lang="en-BH" b="1" dirty="0"/>
              <a:t>Poor</a:t>
            </a:r>
            <a:r>
              <a:rPr lang="en-BH" dirty="0"/>
              <a:t>, </a:t>
            </a:r>
            <a:r>
              <a:rPr lang="en-BH" b="1" dirty="0"/>
              <a:t>Standard</a:t>
            </a:r>
            <a:r>
              <a:rPr lang="en-BH" dirty="0"/>
              <a:t>, or </a:t>
            </a:r>
            <a:r>
              <a:rPr lang="en-BH" b="1" dirty="0"/>
              <a:t>Good</a:t>
            </a:r>
            <a:r>
              <a:rPr lang="en-BH" dirty="0"/>
              <a:t> — from financial and behavioral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F2429E-A41B-201C-8ECD-B1BE782355E6}"/>
              </a:ext>
            </a:extLst>
          </p:cNvPr>
          <p:cNvSpPr txBox="1"/>
          <p:nvPr/>
        </p:nvSpPr>
        <p:spPr>
          <a:xfrm>
            <a:off x="7594600" y="3401568"/>
            <a:ext cx="3619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H" b="1" dirty="0">
                <a:solidFill>
                  <a:schemeClr val="bg2"/>
                </a:solidFill>
              </a:rPr>
              <a:t>1-</a:t>
            </a:r>
            <a:r>
              <a:rPr lang="en-BH" dirty="0">
                <a:solidFill>
                  <a:schemeClr val="bg2"/>
                </a:solidFill>
              </a:rPr>
              <a:t> Build a multi-class classifier to categorize customers into credit score tiers</a:t>
            </a:r>
          </a:p>
          <a:p>
            <a:endParaRPr lang="en-BH" dirty="0">
              <a:solidFill>
                <a:schemeClr val="bg2"/>
              </a:solidFill>
            </a:endParaRPr>
          </a:p>
          <a:p>
            <a:r>
              <a:rPr lang="en-BH" b="1" dirty="0">
                <a:solidFill>
                  <a:schemeClr val="bg2"/>
                </a:solidFill>
              </a:rPr>
              <a:t>2-</a:t>
            </a:r>
            <a:r>
              <a:rPr lang="en-BH" dirty="0">
                <a:solidFill>
                  <a:schemeClr val="bg2"/>
                </a:solidFill>
              </a:rPr>
              <a:t> Determine which financial behaviors most strongly predict credit score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Classification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29914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5868" y="192024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6530188" y="217627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653018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33108" y="2217420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33108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4006" y="2866390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Monthly_Inhand_Salary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15,002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,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Type_of_Loan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11,408</a:t>
            </a:r>
          </a:p>
          <a:p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Credit_History_Age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9,030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,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Num_of_Delayed_Payment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7,002</a:t>
            </a:r>
          </a:p>
          <a:p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Amount_invested_monthly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4,479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,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Num_Credit_Inquiries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1,965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,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Monthly_Balance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Shape 17"/>
          <p:cNvSpPr/>
          <p:nvPr/>
        </p:nvSpPr>
        <p:spPr>
          <a:xfrm>
            <a:off x="822960" y="409651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117347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Types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34340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87375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Categorical / 8 numerical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55868" y="384048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6421982" y="3925323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6421982" y="39158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14236" y="3959098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33108" y="434340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38747" y="4370324"/>
            <a:ext cx="5081193" cy="960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values: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Num_Bank_Accounts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(-1),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Delay_from_due_date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(-5)</a:t>
            </a:r>
          </a:p>
          <a:p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values: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Interest_Rate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 5,797%),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Num_Credit_Card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 1,499),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Num_Credit_Inquiries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 2,597)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EDA Findings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70176C-B842-6661-9F5E-9246C20EDF5E}"/>
              </a:ext>
            </a:extLst>
          </p:cNvPr>
          <p:cNvSpPr txBox="1"/>
          <p:nvPr/>
        </p:nvSpPr>
        <p:spPr>
          <a:xfrm>
            <a:off x="822960" y="2825496"/>
            <a:ext cx="483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Classification: </a:t>
            </a:r>
            <a:r>
              <a:rPr lang="en-US" b="1" dirty="0"/>
              <a:t>Poor, Standard, or Good</a:t>
            </a:r>
            <a:endParaRPr lang="en-BH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5669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965960"/>
            <a:ext cx="4419295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7498080" y="22402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7498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80720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/ Aim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3246120"/>
            <a:ext cx="3870655" cy="2606040"/>
          </a:xfrm>
          <a:prstGeom prst="roundRect">
            <a:avLst>
              <a:gd name="adj" fmla="val 3077"/>
            </a:avLst>
          </a:prstGeom>
          <a:solidFill>
            <a:srgbClr val="27317A"/>
          </a:solidFill>
          <a:ln w="12700">
            <a:solidFill>
              <a:srgbClr val="3B4696"/>
            </a:solidFill>
            <a:prstDash val="dash"/>
          </a:ln>
        </p:spPr>
        <p:txBody>
          <a:bodyPr/>
          <a:lstStyle/>
          <a:p>
            <a:endParaRPr lang="en-BH"/>
          </a:p>
        </p:txBody>
      </p:sp>
      <p:sp>
        <p:nvSpPr>
          <p:cNvPr id="17" name="Text 15"/>
          <p:cNvSpPr/>
          <p:nvPr/>
        </p:nvSpPr>
        <p:spPr>
          <a:xfrm>
            <a:off x="7498080" y="324612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Overview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5CADA2-BCFD-EC72-FEFC-A380CD3C148C}"/>
              </a:ext>
            </a:extLst>
          </p:cNvPr>
          <p:cNvSpPr txBox="1"/>
          <p:nvPr/>
        </p:nvSpPr>
        <p:spPr>
          <a:xfrm>
            <a:off x="994611" y="3172968"/>
            <a:ext cx="53741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Credit card fraud causes significant financial losses for banks and customers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Detecting it in real time is difficult — fraud is rare and designed to resemble legitimate activity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BH" dirty="0"/>
              <a:t>This project builds a classifier to predict fraudulent transactions using transaction-level, device, and behavioral features</a:t>
            </a:r>
          </a:p>
          <a:p>
            <a:endParaRPr lang="en-B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21AE6D-7CFE-2F4E-0A4A-009DBEE3A0F9}"/>
              </a:ext>
            </a:extLst>
          </p:cNvPr>
          <p:cNvSpPr txBox="1"/>
          <p:nvPr/>
        </p:nvSpPr>
        <p:spPr>
          <a:xfrm>
            <a:off x="7636932" y="3336018"/>
            <a:ext cx="36863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1- Build a binary classifier to flag fraudulent transactions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2- Handle severe class imbalance (~1.7% fraud rate) via class weighting, resampling, or threshold tuning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3- Identify key fraud predictors and evaluate using metrics suited to imbalanced data (precision, recall, F1, PR-AUC)</a:t>
            </a:r>
            <a:endParaRPr lang="en-BH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31136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Fraud (1) or Not Fraud (0)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55868" y="1920240"/>
            <a:ext cx="5387188" cy="160020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6530188" y="217627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653018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33108" y="2240280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33108" y="242316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0188" y="295351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0 nulls across all 26 columns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387188" cy="202311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Shape 17"/>
          <p:cNvSpPr/>
          <p:nvPr/>
        </p:nvSpPr>
        <p:spPr>
          <a:xfrm>
            <a:off x="822960" y="409651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142232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Types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34340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87375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Categorical / 13 numerical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55868" y="3840480"/>
            <a:ext cx="5387188" cy="2023110"/>
          </a:xfrm>
          <a:prstGeom prst="roundRect">
            <a:avLst>
              <a:gd name="adj" fmla="val 5714"/>
            </a:avLst>
          </a:prstGeom>
          <a:solidFill>
            <a:srgbClr val="F6F8FD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6530188" y="4096512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65301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33108" y="4142232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33108" y="4343400"/>
            <a:ext cx="433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0188" y="4873752"/>
            <a:ext cx="483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amount_usd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$6,872.69 vs. 75th pct $131.75 (right-skewed)</a:t>
            </a:r>
          </a:p>
          <a:p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account_balance_usd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$127,125.86 vs. 75th pct $3,944.12 (right-skewed)</a:t>
            </a:r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Dataset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EDA Findings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CFC5A-2495-75AE-3689-8AC5B435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88EEB4-9826-50EA-2235-67CB85048A83}"/>
              </a:ext>
            </a:extLst>
          </p:cNvPr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27317A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16CAAC-388A-3D2A-52B4-B7A4FA192429}"/>
              </a:ext>
            </a:extLst>
          </p:cNvPr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27317A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EA163A-08B1-78EF-B42E-DBB4D7168141}"/>
              </a:ext>
            </a:extLst>
          </p:cNvPr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692DF7-2799-93CA-44BB-8F889C77555A}"/>
              </a:ext>
            </a:extLst>
          </p:cNvPr>
          <p:cNvSpPr/>
          <p:nvPr/>
        </p:nvSpPr>
        <p:spPr>
          <a:xfrm>
            <a:off x="548640" y="2377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H" sz="4400" dirty="0">
                <a:solidFill>
                  <a:schemeClr val="bg2"/>
                </a:solidFill>
                <a:latin typeface="Cambria" panose="02040503050406030204" pitchFamily="18" charset="0"/>
              </a:rPr>
              <a:t>Thank You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D60B7E-EE5B-C377-8BFD-90A880C1ED82}"/>
              </a:ext>
            </a:extLst>
          </p:cNvPr>
          <p:cNvSpPr/>
          <p:nvPr/>
        </p:nvSpPr>
        <p:spPr>
          <a:xfrm>
            <a:off x="54864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F4BE328-3EAF-4FCB-94C5-98A5898FCD29}"/>
              </a:ext>
            </a:extLst>
          </p:cNvPr>
          <p:cNvSpPr/>
          <p:nvPr/>
        </p:nvSpPr>
        <p:spPr>
          <a:xfrm>
            <a:off x="548640" y="3977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7ED341-5F02-8E5C-A1D6-F741284000F5}"/>
              </a:ext>
            </a:extLst>
          </p:cNvPr>
          <p:cNvSpPr/>
          <p:nvPr/>
        </p:nvSpPr>
        <p:spPr>
          <a:xfrm>
            <a:off x="54864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40298F-0C41-987D-E93E-2038ED178B77}"/>
              </a:ext>
            </a:extLst>
          </p:cNvPr>
          <p:cNvSpPr/>
          <p:nvPr/>
        </p:nvSpPr>
        <p:spPr>
          <a:xfrm>
            <a:off x="548640" y="5742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E9C4AA-A299-9748-B036-8DDC9BA6E91B}"/>
              </a:ext>
            </a:extLst>
          </p:cNvPr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29070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685</Words>
  <Application>Microsoft Macintosh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Sayed Ali Mahmood Ali Ebrahim Ali Abbas</cp:lastModifiedBy>
  <cp:revision>4</cp:revision>
  <dcterms:created xsi:type="dcterms:W3CDTF">2026-08-05T19:20:59Z</dcterms:created>
  <dcterms:modified xsi:type="dcterms:W3CDTF">2026-08-05T23:45:51Z</dcterms:modified>
</cp:coreProperties>
</file>