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0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51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Shape 2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#2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Automobile Loan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Cleaning &amp; Modeling Plan — Credit Risk 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  Ali Mahmood Ali •  DSB2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Success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4F1E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loan underwriting is slow and inconsistent — lenders must weigh dozens of applicant attributes to judge default risk, and with only 8.1% of applicants defaulting, missing a true defaulter is far costlier than flagging a safe applicant for review.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4F1E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BH"/>
          </a:p>
        </p:txBody>
      </p:sp>
      <p:sp>
        <p:nvSpPr>
          <p:cNvPr id="8" name="Shape 6"/>
          <p:cNvSpPr/>
          <p:nvPr/>
        </p:nvSpPr>
        <p:spPr>
          <a:xfrm>
            <a:off x="868680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240" dirty="0"/>
          </a:p>
        </p:txBody>
      </p:sp>
      <p:sp>
        <p:nvSpPr>
          <p:cNvPr id="10" name="Text 8"/>
          <p:cNvSpPr/>
          <p:nvPr/>
        </p:nvSpPr>
        <p:spPr>
          <a:xfrm>
            <a:off x="1920240" y="324612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aim to classify applicants as “high risk” or “low risk” of default at time of application — using financial, demographic, and credit-bureau data — so loan officers can flag risky applications before funds are disbursed.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0" y="48463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the Default class • PR-AUC &amp; F1 over accuracy given the 8.1% imbalance • Precision monitored to keep the manual-review queue manageable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Audience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Lenders &amp; Loan Officers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credit-risk decision tool used at the point of application — helping underwriters decide whether to approve a loan or flag it for closer manual review, before funds are disbursed.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4846320" cy="0"/>
          </a:xfrm>
          <a:prstGeom prst="line">
            <a:avLst/>
          </a:prstGeom>
          <a:noFill/>
          <a:ln w="12700">
            <a:solidFill>
              <a:srgbClr val="3A4180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risk &amp; retention teams who benefit from earlier, more accurate visibility into which applicants carry elevated default risk.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CARE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340864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6720840" y="19842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reliance on manual, inconsistent underwriting judgment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3273552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6720840" y="291693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high-risk applicants earlier — before funds are disbursed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4206240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6" name="Text 14"/>
          <p:cNvSpPr/>
          <p:nvPr/>
        </p:nvSpPr>
        <p:spPr>
          <a:xfrm>
            <a:off x="6720840" y="38404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review team focus effort only on flagged, high-risk cases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5138928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6720840" y="49149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defaulter is far costlier than a false alarm — recall matters most to this audience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Shape 2"/>
          <p:cNvSpPr/>
          <p:nvPr/>
        </p:nvSpPr>
        <p:spPr>
          <a:xfrm>
            <a:off x="777240" y="1755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1691640" y="1645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validate the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0" y="16459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placeholders, outliers, and missingness with evidence-based decisions (MNAR checks, chi-square, target-balance validation) — not default conventions.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9" name="Shape 7"/>
          <p:cNvSpPr/>
          <p:nvPr/>
        </p:nvSpPr>
        <p:spPr>
          <a:xfrm>
            <a:off x="777240" y="2944368"/>
            <a:ext cx="640080" cy="64008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0" name="Text 8"/>
          <p:cNvSpPr/>
          <p:nvPr/>
        </p:nvSpPr>
        <p:spPr>
          <a:xfrm>
            <a:off x="777240" y="2944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60" dirty="0"/>
          </a:p>
        </p:txBody>
      </p:sp>
      <p:sp>
        <p:nvSpPr>
          <p:cNvPr id="11" name="Text 9"/>
          <p:cNvSpPr/>
          <p:nvPr/>
        </p:nvSpPr>
        <p:spPr>
          <a:xfrm>
            <a:off x="1691640" y="2834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signal via EDA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28346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which features actually associate with Default before modeling, using correlation and chi-square testing rather than assumption.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Shape 12"/>
          <p:cNvSpPr/>
          <p:nvPr/>
        </p:nvSpPr>
        <p:spPr>
          <a:xfrm>
            <a:off x="777240" y="4133088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5" name="Text 13"/>
          <p:cNvSpPr/>
          <p:nvPr/>
        </p:nvSpPr>
        <p:spPr>
          <a:xfrm>
            <a:off x="777240" y="4133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60" dirty="0"/>
          </a:p>
        </p:txBody>
      </p:sp>
      <p:sp>
        <p:nvSpPr>
          <p:cNvPr id="16" name="Text 14"/>
          <p:cNvSpPr/>
          <p:nvPr/>
        </p:nvSpPr>
        <p:spPr>
          <a:xfrm>
            <a:off x="1691640" y="4023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recall-first classifier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40233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models optimized to catch true defaulters, evaluated against a majority-class baseline rather than raw accuracy.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9" name="Shape 17"/>
          <p:cNvSpPr/>
          <p:nvPr/>
        </p:nvSpPr>
        <p:spPr>
          <a:xfrm>
            <a:off x="777240" y="53218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0" name="Text 18"/>
          <p:cNvSpPr/>
          <p:nvPr/>
        </p:nvSpPr>
        <p:spPr>
          <a:xfrm>
            <a:off x="777240" y="5321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60" dirty="0"/>
          </a:p>
        </p:txBody>
      </p:sp>
      <p:sp>
        <p:nvSpPr>
          <p:cNvPr id="21" name="Text 19"/>
          <p:cNvSpPr/>
          <p:nvPr/>
        </p:nvSpPr>
        <p:spPr>
          <a:xfrm>
            <a:off x="1691640" y="5212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an actionable risk flag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0" y="52120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model output loan officers can use directly to prioritize manual review, not just a lab metric.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Type &amp; Planned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Classification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14630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Default (0 = No Default, 1 = Default)  •  3 models planned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6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 — coefficients show which features raise or lower risk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640080" cy="64008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6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000" y="4206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feature interactions; provides feature importance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7" name="Shape 15"/>
          <p:cNvSpPr/>
          <p:nvPr/>
        </p:nvSpPr>
        <p:spPr>
          <a:xfrm>
            <a:off x="8366760" y="283464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60" dirty="0"/>
          </a:p>
        </p:txBody>
      </p:sp>
      <p:sp>
        <p:nvSpPr>
          <p:cNvPr id="19" name="Text 17"/>
          <p:cNvSpPr/>
          <p:nvPr/>
        </p:nvSpPr>
        <p:spPr>
          <a:xfrm>
            <a:off x="836676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(XGBoost)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66760" y="4206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candidate — typically strongest on tabular data of this kind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000" dirty="0"/>
          </a:p>
        </p:txBody>
      </p:sp>
      <p:pic>
        <p:nvPicPr>
          <p:cNvPr id="3" name="Image 0" descr="targe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480560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937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of applicants default — accuracy alone would reward a model that flags no one.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394960" y="1645920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6" name="Text 3"/>
          <p:cNvSpPr/>
          <p:nvPr/>
        </p:nvSpPr>
        <p:spPr>
          <a:xfrm>
            <a:off x="5669280" y="14904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(primary)  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0" y="180136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as many true defaulters as possible — missing one is costlier than a false alarm.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94960" y="26060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9" name="Text 6"/>
          <p:cNvSpPr/>
          <p:nvPr/>
        </p:nvSpPr>
        <p:spPr>
          <a:xfrm>
            <a:off x="5669280" y="245059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&amp; F1  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0" y="276148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informative than accuracy or ROC-AUC given the ~8% class imbalance.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94960" y="3566160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2" name="Text 9"/>
          <p:cNvSpPr/>
          <p:nvPr/>
        </p:nvSpPr>
        <p:spPr>
          <a:xfrm>
            <a:off x="5669280" y="34107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669280" y="372160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to keep the false-positive rate — and the review queue — manageable.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94960" y="45262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5" name="Text 12"/>
          <p:cNvSpPr/>
          <p:nvPr/>
        </p:nvSpPr>
        <p:spPr>
          <a:xfrm>
            <a:off x="5669280" y="437083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beat  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69280" y="468172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predictor: 0% recall at 92% accuracy.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 —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110,179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 (from 121,856)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2336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233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(post cleaning)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9224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(target)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5256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0525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/ consumer loan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E8E6E3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35 FEATURES ACROSS 6 GROUPS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142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Client_Income, Credit_Amount, Loan_Annuity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70332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7" name="Text 15"/>
          <p:cNvSpPr/>
          <p:nvPr/>
        </p:nvSpPr>
        <p:spPr>
          <a:xfrm>
            <a:off x="4526280" y="3813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Obligations (6)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4142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Car/Bike/House_Own, Active_Loan, Child_Count, Family_Members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70332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0" name="Text 18"/>
          <p:cNvSpPr/>
          <p:nvPr/>
        </p:nvSpPr>
        <p:spPr>
          <a:xfrm>
            <a:off x="8321040" y="3813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(7)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4142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Marital Status, Gender, Housing, Age, City Rating, Region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3" name="Text 21"/>
          <p:cNvSpPr/>
          <p:nvPr/>
        </p:nvSpPr>
        <p:spPr>
          <a:xfrm>
            <a:off x="731520" y="5230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(6)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559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Type, Occupation, Organization, Employed_Days, Accompany, Contract Type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51206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6" name="Text 24"/>
          <p:cNvSpPr/>
          <p:nvPr/>
        </p:nvSpPr>
        <p:spPr>
          <a:xfrm>
            <a:off x="4526280" y="5230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Contact (7)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5559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Registration/ID_Days, Mobile/Home/Work phone tags, address-match tags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512064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29" name="Text 27"/>
          <p:cNvSpPr/>
          <p:nvPr/>
        </p:nvSpPr>
        <p:spPr>
          <a:xfrm>
            <a:off x="8321040" y="5230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&amp; Risk (5)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1040" y="55595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Score_Source_1/2/3, Social_Circle_Default, Credit_Bureau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 — EDA for Modeling</a:t>
            </a:r>
            <a:endParaRPr lang="en-US" sz="3000" dirty="0"/>
          </a:p>
        </p:txBody>
      </p:sp>
      <p:pic>
        <p:nvPicPr>
          <p:cNvPr id="3" name="Image 0" descr="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488" y="976453"/>
            <a:ext cx="5447512" cy="4575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508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TOP PREDICTORS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-0.151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28800" y="1984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Score_Source_3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-0.151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Score_Source_2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-0.095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898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Score_Source_1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-0.074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28800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Age_Days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3977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— CATEGORICAL FEATURES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43891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categorical features tested show a statistically significant association with Default (p &lt; 0.05). Strongest: Client_Occupation (χ² = 655.5, p = 1.5e-127) and Type_Organization (χ² = 637.2, p = 5.5e-99) — both tied to employment status.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623560"/>
            <a:ext cx="6309360" cy="777240"/>
          </a:xfrm>
          <a:prstGeom prst="roundRect">
            <a:avLst>
              <a:gd name="adj" fmla="val 7059"/>
            </a:avLst>
          </a:prstGeom>
          <a:solidFill>
            <a:srgbClr val="F4F1EE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6" name="Text 13"/>
          <p:cNvSpPr/>
          <p:nvPr/>
        </p:nvSpPr>
        <p:spPr>
          <a:xfrm>
            <a:off x="731520" y="5623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Child_Count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Client_Family_Members r = 0.85 (multicollinearity to address in preprocessing)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 —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4343400"/>
          </a:xfrm>
          <a:prstGeom prst="roundRect">
            <a:avLst>
              <a:gd name="adj" fmla="val 1684"/>
            </a:avLst>
          </a:prstGeom>
          <a:solidFill>
            <a:srgbClr val="F6EAE0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86584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Client_Income outlier (1,800,009)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5877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2.7× the next-highest value; still needs a final treatment decision (cap, flag, or leave with stated justification) before modeling.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19272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9" name="Text 7"/>
          <p:cNvSpPr/>
          <p:nvPr/>
        </p:nvSpPr>
        <p:spPr>
          <a:xfrm>
            <a:off x="1051560" y="31729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cleaning judgment calls made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(drop vs. impute, median vs. mode, need to be confirmed if it’s the best.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251960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1051560" y="41056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columns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4531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and Organization Type still need a finalized encoding strategy to avoid excessive one-hot dimensionality.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184648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5" name="Text 13"/>
          <p:cNvSpPr/>
          <p:nvPr/>
        </p:nvSpPr>
        <p:spPr>
          <a:xfrm>
            <a:off x="1051560" y="50383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effect sizes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53858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is strongly predictive (top correlation ≈ -0.15) — performance will depend on combining many weak-to-moderate signals.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 —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4343400"/>
          </a:xfrm>
          <a:prstGeom prst="roundRect">
            <a:avLst>
              <a:gd name="adj" fmla="val 1684"/>
            </a:avLst>
          </a:prstGeom>
          <a:solidFill>
            <a:srgbClr val="E4F0E9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1F6B4D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Client_Income outlier treatment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1F6B4D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encoding, scaling, and engineered features (Credit_Income_Ratio, Annuity_Income_Ratio)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F6B4D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— class_weight='balanced' and/or SMOTE on the training set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1F6B4D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389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3 planned models on a stratified train/test split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1F6B4D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for recall / PR-AUC and finalize feature importance for the capstone 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BH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BH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1011</Words>
  <Application>Microsoft Macintosh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Sayed Ali Mahmood Ali Ebrahim Ali Abbas</cp:lastModifiedBy>
  <cp:revision>2</cp:revision>
  <dcterms:created xsi:type="dcterms:W3CDTF">2026-08-19T08:20:19Z</dcterms:created>
  <dcterms:modified xsi:type="dcterms:W3CDTF">2026-08-19T20:09:17Z</dcterms:modified>
</cp:coreProperties>
</file>